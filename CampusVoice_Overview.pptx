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a401606-9fd5-4b69-4a1e-1cc7ad4c09b9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7202E"/>
                </a:solidFill>
                <a:latin typeface="+mn-lt"/>
              </a:rPr>
              <a:t>Complaint routing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6408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Intent matching</c:v>
                  </c:pt>
                  <c:pt idx="1">
                    <c:v>Deep learning (MLP)</c:v>
                  </c:pt>
                  <c:pt idx="2">
                    <c:v>RAG retrieval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61.7</c:v>
                </c:pt>
                <c:pt idx="1">
                  <c:v>92.3</c:v>
                </c:pt>
                <c:pt idx="2">
                  <c:v>92.3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7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3931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57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PRJT302  |  GROUP 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CampusVoice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8288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chatbot that answers student problems from university policy and routes each report to the right office</a:t>
            </a:r>
            <a:endParaRPr lang="en-US" sz="1800" dirty="0"/>
          </a:p>
        </p:txBody>
      </p:sp>
      <p:sp>
        <p:nvSpPr>
          <p:cNvPr id="5" name="Paper note"/>
          <p:cNvSpPr txBox="1"/>
          <p:nvPr/>
        </p:nvSpPr>
        <p:spPr>
          <a:xfrm>
            <a:off x="54864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Prototype for the paper â€œEnhancing Chatbot-Based Reporting of Development Challenges in Higher Learningâ€</a:t>
            </a:r>
            <a:endParaRPr lang="en-US" sz="1200" dirty="0"/>
          </a:p>
        </p:txBody>
      </p:sp>
      <p:sp>
        <p:nvSpPr>
          <p:cNvPr id="6" name="Students card"/>
          <p:cNvSpPr/>
          <p:nvPr/>
        </p:nvSpPr>
        <p:spPr>
          <a:xfrm>
            <a:off x="4846320" y="685800"/>
            <a:ext cx="3749040" cy="1783080"/>
          </a:xfrm>
          <a:prstGeom prst="roundRect">
            <a:avLst>
              <a:gd name="adj" fmla="val 41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udents dot"/>
          <p:cNvSpPr/>
          <p:nvPr/>
        </p:nvSpPr>
        <p:spPr>
          <a:xfrm>
            <a:off x="5074920" y="9601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udents heading"/>
          <p:cNvSpPr txBox="1"/>
          <p:nvPr/>
        </p:nvSpPr>
        <p:spPr>
          <a:xfrm>
            <a:off x="5394960" y="868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Students</a:t>
            </a:r>
            <a:endParaRPr lang="en-US" sz="2000" dirty="0"/>
          </a:p>
        </p:txBody>
      </p:sp>
      <p:sp>
        <p:nvSpPr>
          <p:cNvPr id="9" name="Students list"/>
          <p:cNvSpPr txBox="1"/>
          <p:nvPr/>
        </p:nvSpPr>
        <p:spPr>
          <a:xfrm>
            <a:off x="507492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 the chat with no account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Describe a problem in everyday words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Get an answer grounded in policy</a:t>
            </a:r>
            <a:endParaRPr lang="en-US" sz="1400" dirty="0"/>
          </a:p>
        </p:txBody>
      </p:sp>
      <p:sp>
        <p:nvSpPr>
          <p:cNvPr id="10" name="Staff card"/>
          <p:cNvSpPr/>
          <p:nvPr/>
        </p:nvSpPr>
        <p:spPr>
          <a:xfrm>
            <a:off x="4846320" y="2697480"/>
            <a:ext cx="3749040" cy="1783080"/>
          </a:xfrm>
          <a:prstGeom prst="roundRect">
            <a:avLst>
              <a:gd name="adj" fmla="val 41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aff dot"/>
          <p:cNvSpPr/>
          <p:nvPr/>
        </p:nvSpPr>
        <p:spPr>
          <a:xfrm>
            <a:off x="5074920" y="297180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aff heading"/>
          <p:cNvSpPr txBox="1"/>
          <p:nvPr/>
        </p:nvSpPr>
        <p:spPr>
          <a:xfrm>
            <a:off x="5394960" y="2880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Staff</a:t>
            </a:r>
            <a:endParaRPr lang="en-US" sz="2000" dirty="0"/>
          </a:p>
        </p:txBody>
      </p:sp>
      <p:sp>
        <p:nvSpPr>
          <p:cNvPr id="13" name="Staff list"/>
          <p:cNvSpPr txBox="1"/>
          <p:nvPr/>
        </p:nvSpPr>
        <p:spPr>
          <a:xfrm>
            <a:off x="5074920" y="338328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Sign in to a private dashboard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View and update student reports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Compare model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message to the right office</a:t>
            </a:r>
            <a:endParaRPr lang="en-US" sz="3600" dirty="0"/>
          </a:p>
        </p:txBody>
      </p:sp>
      <p:sp>
        <p:nvSpPr>
          <p:cNvPr id="3" name="Step 1 circl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 1 heading"/>
          <p:cNvSpPr txBox="1"/>
          <p:nvPr/>
        </p:nvSpPr>
        <p:spPr>
          <a:xfrm>
            <a:off x="5486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Describe the problem</a:t>
            </a:r>
            <a:endParaRPr lang="en-US" sz="1600" dirty="0"/>
          </a:p>
        </p:txBody>
      </p:sp>
      <p:sp>
        <p:nvSpPr>
          <p:cNvPr id="6" name="Step 1 text"/>
          <p:cNvSpPr txBox="1"/>
          <p:nvPr/>
        </p:nvSpPr>
        <p:spPr>
          <a:xfrm>
            <a:off x="548640" y="2377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Typos are fine. Personal numbers are masked.</a:t>
            </a:r>
            <a:endParaRPr lang="en-US" sz="1400" dirty="0"/>
          </a:p>
        </p:txBody>
      </p:sp>
      <p:sp>
        <p:nvSpPr>
          <p:cNvPr id="7" name="Step 2 circle"/>
          <p:cNvSpPr/>
          <p:nvPr/>
        </p:nvSpPr>
        <p:spPr>
          <a:xfrm>
            <a:off x="26060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2606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tep 2 heading"/>
          <p:cNvSpPr txBox="1"/>
          <p:nvPr/>
        </p:nvSpPr>
        <p:spPr>
          <a:xfrm>
            <a:off x="26060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Route to an office</a:t>
            </a:r>
            <a:endParaRPr lang="en-US" sz="1600" dirty="0"/>
          </a:p>
        </p:txBody>
      </p:sp>
      <p:sp>
        <p:nvSpPr>
          <p:cNvPr id="10" name="Step 2 text"/>
          <p:cNvSpPr txBox="1"/>
          <p:nvPr/>
        </p:nvSpPr>
        <p:spPr>
          <a:xfrm>
            <a:off x="2606040" y="2377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deep learning classifier picks the office and the urgency.</a:t>
            </a:r>
            <a:endParaRPr lang="en-US" sz="1400" dirty="0"/>
          </a:p>
        </p:txBody>
      </p:sp>
      <p:sp>
        <p:nvSpPr>
          <p:cNvPr id="11" name="Step 3 circle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tep 3 heading"/>
          <p:cNvSpPr txBox="1"/>
          <p:nvPr/>
        </p:nvSpPr>
        <p:spPr>
          <a:xfrm>
            <a:off x="46634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 from policy</a:t>
            </a:r>
            <a:endParaRPr lang="en-US" sz="1600" dirty="0"/>
          </a:p>
        </p:txBody>
      </p:sp>
      <p:sp>
        <p:nvSpPr>
          <p:cNvPr id="14" name="Step 3 text"/>
          <p:cNvSpPr txBox="1"/>
          <p:nvPr/>
        </p:nvSpPr>
        <p:spPr>
          <a:xfrm>
            <a:off x="4663440" y="2377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RAG grounds the reply in official university documents.</a:t>
            </a:r>
            <a:endParaRPr lang="en-US" sz="1400" dirty="0"/>
          </a:p>
        </p:txBody>
      </p:sp>
      <p:sp>
        <p:nvSpPr>
          <p:cNvPr id="15" name="Step 4 circle"/>
          <p:cNvSpPr/>
          <p:nvPr/>
        </p:nvSpPr>
        <p:spPr>
          <a:xfrm>
            <a:off x="67208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4 number"/>
          <p:cNvSpPr txBox="1"/>
          <p:nvPr/>
        </p:nvSpPr>
        <p:spPr>
          <a:xfrm>
            <a:off x="67208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Step 4 heading"/>
          <p:cNvSpPr txBox="1"/>
          <p:nvPr/>
        </p:nvSpPr>
        <p:spPr>
          <a:xfrm>
            <a:off x="67208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follow up</a:t>
            </a:r>
            <a:endParaRPr lang="en-US" sz="16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2377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Urgent, formal or unclear reports are escalated to a person.</a:t>
            </a:r>
            <a:endParaRPr lang="en-US" sz="1400" dirty="0"/>
          </a:p>
        </p:txBody>
      </p:sp>
      <p:sp>
        <p:nvSpPr>
          <p:cNvPr id="19" name="Detail band"/>
          <p:cNvSpPr/>
          <p:nvPr/>
        </p:nvSpPr>
        <p:spPr>
          <a:xfrm>
            <a:off x="548640" y="3429000"/>
            <a:ext cx="80467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ffices label"/>
          <p:cNvSpPr txBox="1"/>
          <p:nvPr/>
        </p:nvSpPr>
        <p:spPr>
          <a:xfrm>
            <a:off x="77724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Five offices</a:t>
            </a:r>
            <a:endParaRPr lang="en-US" sz="1200" dirty="0"/>
          </a:p>
        </p:txBody>
      </p:sp>
      <p:sp>
        <p:nvSpPr>
          <p:cNvPr id="21" name="Academic chip"/>
          <p:cNvSpPr txBox="1"/>
          <p:nvPr/>
        </p:nvSpPr>
        <p:spPr>
          <a:xfrm>
            <a:off x="777240" y="3977640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Academic</a:t>
            </a:r>
            <a:endParaRPr lang="en-US" sz="1200" dirty="0"/>
          </a:p>
        </p:txBody>
      </p:sp>
      <p:sp>
        <p:nvSpPr>
          <p:cNvPr id="22" name="Finance chip"/>
          <p:cNvSpPr txBox="1"/>
          <p:nvPr/>
        </p:nvSpPr>
        <p:spPr>
          <a:xfrm>
            <a:off x="1783080" y="3977640"/>
            <a:ext cx="82296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Finance</a:t>
            </a:r>
            <a:endParaRPr lang="en-US" sz="1200" dirty="0"/>
          </a:p>
        </p:txBody>
      </p:sp>
      <p:sp>
        <p:nvSpPr>
          <p:cNvPr id="23" name="ICT chip"/>
          <p:cNvSpPr txBox="1"/>
          <p:nvPr/>
        </p:nvSpPr>
        <p:spPr>
          <a:xfrm>
            <a:off x="2697480" y="3977640"/>
            <a:ext cx="5486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ICT</a:t>
            </a:r>
            <a:endParaRPr lang="en-US" sz="1200" dirty="0"/>
          </a:p>
        </p:txBody>
      </p:sp>
      <p:sp>
        <p:nvSpPr>
          <p:cNvPr id="24" name="Facilities chip"/>
          <p:cNvSpPr txBox="1"/>
          <p:nvPr/>
        </p:nvSpPr>
        <p:spPr>
          <a:xfrm>
            <a:off x="3337560" y="3977640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25" name="Hostel chip"/>
          <p:cNvSpPr txBox="1"/>
          <p:nvPr/>
        </p:nvSpPr>
        <p:spPr>
          <a:xfrm>
            <a:off x="4343400" y="3977640"/>
            <a:ext cx="731520" cy="384048"/>
          </a:xfrm>
          <a:prstGeom prst="roundRect">
            <a:avLst>
              <a:gd name="adj" fmla="val 47619"/>
            </a:avLst>
          </a:prstGeom>
          <a:solidFill>
            <a:srgbClr val="B5476B"/>
          </a:solidFill>
          <a:ln>
            <a:solidFill>
              <a:srgbClr val="B547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Hostel</a:t>
            </a:r>
            <a:endParaRPr lang="en-US" sz="1200" dirty="0"/>
          </a:p>
        </p:txBody>
      </p:sp>
      <p:sp>
        <p:nvSpPr>
          <p:cNvPr id="26" name="Targets label"/>
          <p:cNvSpPr txBox="1"/>
          <p:nvPr/>
        </p:nvSpPr>
        <p:spPr>
          <a:xfrm>
            <a:off x="5486400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Staff response targets</a:t>
            </a:r>
            <a:endParaRPr lang="en-US" sz="1200" dirty="0"/>
          </a:p>
        </p:txBody>
      </p:sp>
      <p:sp>
        <p:nvSpPr>
          <p:cNvPr id="27" name="Critical target"/>
          <p:cNvSpPr txBox="1"/>
          <p:nvPr/>
        </p:nvSpPr>
        <p:spPr>
          <a:xfrm>
            <a:off x="5486400" y="39136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 h</a:t>
            </a:r>
            <a:endParaRPr lang="en-US" sz="1600" dirty="0"/>
          </a:p>
        </p:txBody>
      </p:sp>
      <p:sp>
        <p:nvSpPr>
          <p:cNvPr id="28" name="Critical label"/>
          <p:cNvSpPr txBox="1"/>
          <p:nvPr/>
        </p:nvSpPr>
        <p:spPr>
          <a:xfrm>
            <a:off x="5486400" y="42245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Critical</a:t>
            </a:r>
            <a:endParaRPr lang="en-US" sz="1100" dirty="0"/>
          </a:p>
        </p:txBody>
      </p:sp>
      <p:sp>
        <p:nvSpPr>
          <p:cNvPr id="29" name="High target"/>
          <p:cNvSpPr txBox="1"/>
          <p:nvPr/>
        </p:nvSpPr>
        <p:spPr>
          <a:xfrm>
            <a:off x="6217920" y="39136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24 h</a:t>
            </a:r>
            <a:endParaRPr lang="en-US" sz="1600" dirty="0"/>
          </a:p>
        </p:txBody>
      </p:sp>
      <p:sp>
        <p:nvSpPr>
          <p:cNvPr id="30" name="High label"/>
          <p:cNvSpPr txBox="1"/>
          <p:nvPr/>
        </p:nvSpPr>
        <p:spPr>
          <a:xfrm>
            <a:off x="6217920" y="42245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High</a:t>
            </a:r>
            <a:endParaRPr lang="en-US" sz="1100" dirty="0"/>
          </a:p>
        </p:txBody>
      </p:sp>
      <p:sp>
        <p:nvSpPr>
          <p:cNvPr id="31" name="Medium target"/>
          <p:cNvSpPr txBox="1"/>
          <p:nvPr/>
        </p:nvSpPr>
        <p:spPr>
          <a:xfrm>
            <a:off x="6949440" y="39136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days</a:t>
            </a:r>
            <a:endParaRPr lang="en-US" sz="1600" dirty="0"/>
          </a:p>
        </p:txBody>
      </p:sp>
      <p:sp>
        <p:nvSpPr>
          <p:cNvPr id="32" name="Medium label"/>
          <p:cNvSpPr txBox="1"/>
          <p:nvPr/>
        </p:nvSpPr>
        <p:spPr>
          <a:xfrm>
            <a:off x="6949440" y="42245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Medium</a:t>
            </a:r>
            <a:endParaRPr lang="en-US" sz="1100" dirty="0"/>
          </a:p>
        </p:txBody>
      </p:sp>
      <p:sp>
        <p:nvSpPr>
          <p:cNvPr id="33" name="Low target"/>
          <p:cNvSpPr txBox="1"/>
          <p:nvPr/>
        </p:nvSpPr>
        <p:spPr>
          <a:xfrm>
            <a:off x="7680960" y="39136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days</a:t>
            </a:r>
            <a:endParaRPr lang="en-US" sz="1600" dirty="0"/>
          </a:p>
        </p:txBody>
      </p:sp>
      <p:sp>
        <p:nvSpPr>
          <p:cNvPr id="34" name="Low label"/>
          <p:cNvSpPr txBox="1"/>
          <p:nvPr/>
        </p:nvSpPr>
        <p:spPr>
          <a:xfrm>
            <a:off x="7680960" y="42245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well the models perform</a:t>
            </a:r>
            <a:endParaRPr lang="en-US" sz="3600" dirty="0"/>
          </a:p>
        </p:txBody>
      </p:sp>
      <p:graphicFrame>
        <p:nvGraphicFramePr>
          <p:cNvPr id="3" name="Routing accuracy chart" descr=""/>
          <p:cNvGraphicFramePr/>
          <p:nvPr/>
        </p:nvGraphicFramePr>
        <p:xfrm>
          <a:off x="548640" y="128016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note"/>
          <p:cNvSpPr txBox="1"/>
          <p:nvPr/>
        </p:nvSpPr>
        <p:spPr>
          <a:xfrm>
            <a:off x="54864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Synthetic complaints dataset, 781 training and 196 test complaints</a:t>
            </a:r>
            <a:endParaRPr lang="en-US" sz="1000" dirty="0"/>
          </a:p>
        </p:txBody>
      </p:sp>
      <p:sp>
        <p:nvSpPr>
          <p:cNvPr id="5" name="Headline stat"/>
          <p:cNvSpPr txBox="1"/>
          <p:nvPr/>
        </p:nvSpPr>
        <p:spPr>
          <a:xfrm>
            <a:off x="5486400" y="1234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92%</a:t>
            </a:r>
            <a:endParaRPr lang="en-US" sz="6000" dirty="0"/>
          </a:p>
        </p:txBody>
      </p:sp>
      <p:sp>
        <p:nvSpPr>
          <p:cNvPr id="6" name="Headline label"/>
          <p:cNvSpPr txBox="1"/>
          <p:nvPr/>
        </p:nvSpPr>
        <p:spPr>
          <a:xfrm>
            <a:off x="548640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test complaints reach the correct office with the deep learning and RAG models</a:t>
            </a:r>
            <a:endParaRPr lang="en-US" sz="1400" dirty="0"/>
          </a:p>
        </p:txBody>
      </p:sp>
      <p:sp>
        <p:nvSpPr>
          <p:cNvPr id="7" name="Adoption card"/>
          <p:cNvSpPr/>
          <p:nvPr/>
        </p:nvSpPr>
        <p:spPr>
          <a:xfrm>
            <a:off x="5486400" y="3017520"/>
            <a:ext cx="3108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doption heading"/>
          <p:cNvSpPr txBox="1"/>
          <p:nvPr/>
        </p:nvSpPr>
        <p:spPr>
          <a:xfrm>
            <a:off x="566928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Predicting chatbot adoption</a:t>
            </a:r>
            <a:endParaRPr lang="en-US" sz="1400" dirty="0"/>
          </a:p>
        </p:txBody>
      </p:sp>
      <p:sp>
        <p:nvSpPr>
          <p:cNvPr id="9" name="Adoption text"/>
          <p:cNvSpPr txBox="1"/>
          <p:nvPr/>
        </p:nvSpPr>
        <p:spPr>
          <a:xfrm>
            <a:off x="5669280" y="3438144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 131 survey responses, RAG reaches 42% accuracy against a 40.5% majority baseline. LLM results are pending: no LLM is configured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Voice">
  <a:themeElements>
    <a:clrScheme name="CampusVoice">
      <a:dk1>
        <a:srgbClr val="17202E"/>
      </a:dk1>
      <a:lt1>
        <a:srgbClr val="FFFFFF"/>
      </a:lt1>
      <a:dk2>
        <a:srgbClr val="4A5568"/>
      </a:dk2>
      <a:lt2>
        <a:srgbClr val="F3F5F8"/>
      </a:lt2>
      <a:accent1>
        <a:srgbClr val="26408B"/>
      </a:accent1>
      <a:accent2>
        <a:srgbClr val="F2B705"/>
      </a:accent2>
      <a:accent3>
        <a:srgbClr val="5B4BC4"/>
      </a:accent3>
      <a:accent4>
        <a:srgbClr val="1F8A5B"/>
      </a:accent4>
      <a:accent5>
        <a:srgbClr val="1C7CC7"/>
      </a:accent5>
      <a:accent6>
        <a:srgbClr val="B8661A"/>
      </a:accent6>
      <a:hlink>
        <a:srgbClr val="26408B"/>
      </a:hlink>
      <a:folHlink>
        <a:srgbClr val="B5476B"/>
      </a:folHlink>
    </a:clrScheme>
    <a:fontScheme name="CampusVo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CampusVoice system overview</dc:title>
  <dc:subject>PptxGenJS Presentation</dc:subject>
  <dc:creator>PRJT302 Group 12</dc:creator>
  <cp:lastModifiedBy>PRJT302 Group 12</cp:lastModifiedBy>
  <cp:revision>1</cp:revision>
  <dcterms:created xsi:type="dcterms:W3CDTF">2026-10-08T21:08:24Z</dcterms:created>
  <dcterms:modified xsi:type="dcterms:W3CDTF">2026-10-08T21:08:24Z</dcterms:modified>
</cp:coreProperties>
</file>